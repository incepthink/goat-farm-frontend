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83" r:id="rId2"/>
    <p:sldId id="258" r:id="rId3"/>
    <p:sldId id="260" r:id="rId4"/>
    <p:sldId id="257" r:id="rId5"/>
    <p:sldId id="261" r:id="rId6"/>
    <p:sldId id="262" r:id="rId7"/>
    <p:sldId id="265" r:id="rId8"/>
    <p:sldId id="274" r:id="rId9"/>
    <p:sldId id="275" r:id="rId10"/>
    <p:sldId id="276" r:id="rId11"/>
    <p:sldId id="277" r:id="rId12"/>
    <p:sldId id="278" r:id="rId13"/>
    <p:sldId id="281" r:id="rId14"/>
    <p:sldId id="282" r:id="rId15"/>
    <p:sldId id="28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94660"/>
  </p:normalViewPr>
  <p:slideViewPr>
    <p:cSldViewPr snapToGrid="0">
      <p:cViewPr>
        <p:scale>
          <a:sx n="70" d="100"/>
          <a:sy n="70" d="100"/>
        </p:scale>
        <p:origin x="534" y="-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ti Patwardhan" userId="8b0c9582effe4a39" providerId="LiveId" clId="{634304CF-8D0B-40D4-8DFC-B4CC48F9B7DE}"/>
    <pc:docChg chg="undo custSel addSld delSld modSld sldOrd">
      <pc:chgData name="Swati Patwardhan" userId="8b0c9582effe4a39" providerId="LiveId" clId="{634304CF-8D0B-40D4-8DFC-B4CC48F9B7DE}" dt="2026-05-28T10:59:14.826" v="5720" actId="20577"/>
      <pc:docMkLst>
        <pc:docMk/>
      </pc:docMkLst>
      <pc:sldChg chg="modSp mod">
        <pc:chgData name="Swati Patwardhan" userId="8b0c9582effe4a39" providerId="LiveId" clId="{634304CF-8D0B-40D4-8DFC-B4CC48F9B7DE}" dt="2026-05-28T10:59:14.826" v="5720" actId="20577"/>
        <pc:sldMkLst>
          <pc:docMk/>
          <pc:sldMk cId="1394724121" sldId="281"/>
        </pc:sldMkLst>
        <pc:spChg chg="mod">
          <ac:chgData name="Swati Patwardhan" userId="8b0c9582effe4a39" providerId="LiveId" clId="{634304CF-8D0B-40D4-8DFC-B4CC48F9B7DE}" dt="2026-05-28T10:59:14.826" v="5720" actId="20577"/>
          <ac:spMkLst>
            <pc:docMk/>
            <pc:sldMk cId="1394724121" sldId="281"/>
            <ac:spMk id="4" creationId="{C5801827-73C7-CA04-2AE4-FF6B3345EFA0}"/>
          </ac:spMkLst>
        </pc:spChg>
      </pc:sldChg>
      <pc:sldChg chg="addSp delSp modSp add del mod">
        <pc:chgData name="Swati Patwardhan" userId="8b0c9582effe4a39" providerId="LiveId" clId="{634304CF-8D0B-40D4-8DFC-B4CC48F9B7DE}" dt="2026-05-28T10:55:10.227" v="5715"/>
        <pc:sldMkLst>
          <pc:docMk/>
          <pc:sldMk cId="41372490" sldId="282"/>
        </pc:sldMkLst>
        <pc:spChg chg="add mod">
          <ac:chgData name="Swati Patwardhan" userId="8b0c9582effe4a39" providerId="LiveId" clId="{634304CF-8D0B-40D4-8DFC-B4CC48F9B7DE}" dt="2026-05-28T10:55:10.227" v="5715"/>
          <ac:spMkLst>
            <pc:docMk/>
            <pc:sldMk cId="41372490" sldId="282"/>
            <ac:spMk id="4" creationId="{B61AACD9-831F-32A4-991E-D2D8A1E8DFBD}"/>
          </ac:spMkLst>
        </pc:spChg>
        <pc:spChg chg="add del mod">
          <ac:chgData name="Swati Patwardhan" userId="8b0c9582effe4a39" providerId="LiveId" clId="{634304CF-8D0B-40D4-8DFC-B4CC48F9B7DE}" dt="2026-05-28T10:54:54.083" v="5714" actId="478"/>
          <ac:spMkLst>
            <pc:docMk/>
            <pc:sldMk cId="41372490" sldId="282"/>
            <ac:spMk id="7" creationId="{30543094-0008-6603-864A-5E5797838C2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b0c9582effe4a39/Desktop/&#2407;/New%20Microsoft%20Excel%20Workshe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690126370147413"/>
          <c:y val="0.18582148663167319"/>
          <c:w val="0.8424849192246322"/>
          <c:h val="0.70115799052485273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Sheet1!$D$1</c:f>
              <c:strCache>
                <c:ptCount val="1"/>
                <c:pt idx="0">
                  <c:v>MILK IN LITERS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Sheet1!$A$2:$B$5</c:f>
              <c:strCache>
                <c:ptCount val="3"/>
                <c:pt idx="0">
                  <c:v>1ST YEAR</c:v>
                </c:pt>
                <c:pt idx="1">
                  <c:v>2ND YEAR</c:v>
                </c:pt>
                <c:pt idx="2">
                  <c:v>3RD YEAR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6000</c:v>
                </c:pt>
                <c:pt idx="1">
                  <c:v>15000</c:v>
                </c:pt>
                <c:pt idx="2">
                  <c:v>25000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EF-4673-AF42-6F8C9B88D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8597167"/>
        <c:axId val="498599567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>
                      <a:shade val="65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Sheet1!$A$2:$B$5</c15:sqref>
                        </c15:formulaRef>
                      </c:ext>
                    </c:extLst>
                    <c:strCache>
                      <c:ptCount val="3"/>
                      <c:pt idx="0">
                        <c:v>1ST YEAR</c:v>
                      </c:pt>
                      <c:pt idx="1">
                        <c:v>2ND YEAR</c:v>
                      </c:pt>
                      <c:pt idx="2">
                        <c:v>3RD YEAR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Sheet1!$C$2:$C$5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CFEF-4673-AF42-6F8C9B88DDEC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>
                      <a:tint val="65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Sheet1!$A$2:$B$5</c15:sqref>
                        </c15:formulaRef>
                      </c:ext>
                    </c:extLst>
                    <c:strCache>
                      <c:ptCount val="3"/>
                      <c:pt idx="0">
                        <c:v>1ST YEAR</c:v>
                      </c:pt>
                      <c:pt idx="1">
                        <c:v>2ND YEAR</c:v>
                      </c:pt>
                      <c:pt idx="2">
                        <c:v>3RD YEAR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Sheet1!$E$2:$E$5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CFEF-4673-AF42-6F8C9B88DDEC}"/>
                  </c:ext>
                </c:extLst>
              </c15:ser>
            </c15:filteredBarSeries>
          </c:ext>
        </c:extLst>
      </c:barChart>
      <c:catAx>
        <c:axId val="498597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8599567"/>
        <c:crosses val="autoZero"/>
        <c:auto val="1"/>
        <c:lblAlgn val="ctr"/>
        <c:lblOffset val="100"/>
        <c:noMultiLvlLbl val="0"/>
      </c:catAx>
      <c:valAx>
        <c:axId val="498599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8597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47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7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23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47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9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2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95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81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80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831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9602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16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76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31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07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57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A98A3C7-98D9-4E02-975B-B7EBBAF85CC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B70ACFE-CAAD-448E-A6F3-3B19113D4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jpg"/><Relationship Id="rId5" Type="http://schemas.openxmlformats.org/officeDocument/2006/relationships/image" Target="../media/image34.jpeg"/><Relationship Id="rId4" Type="http://schemas.openxmlformats.org/officeDocument/2006/relationships/image" Target="../media/image33.png"/><Relationship Id="rId9" Type="http://schemas.openxmlformats.org/officeDocument/2006/relationships/image" Target="../media/image3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7" Type="http://schemas.openxmlformats.org/officeDocument/2006/relationships/image" Target="../media/image47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B2A895-B26C-48FE-905E-9277C0AE2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719" y="-44708"/>
            <a:ext cx="5023263" cy="4712614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E0F619-6BE9-4D69-BE5B-13AFB87C7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4393875"/>
            <a:ext cx="8689976" cy="1134996"/>
          </a:xfrm>
        </p:spPr>
        <p:txBody>
          <a:bodyPr>
            <a:normAutofit/>
          </a:bodyPr>
          <a:lstStyle/>
          <a:p>
            <a:r>
              <a:rPr lang="en-US" sz="7200" b="1" dirty="0"/>
              <a:t>INDIGENOUS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A29742-1750-436C-B93D-BE8D31CD836A}"/>
              </a:ext>
            </a:extLst>
          </p:cNvPr>
          <p:cNvSpPr txBox="1">
            <a:spLocks/>
          </p:cNvSpPr>
          <p:nvPr/>
        </p:nvSpPr>
        <p:spPr>
          <a:xfrm>
            <a:off x="0" y="5094527"/>
            <a:ext cx="12191999" cy="9381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GOAT BREED DEVELOPMENT</a:t>
            </a:r>
            <a:r>
              <a:rPr lang="mr-IN" b="1" dirty="0"/>
              <a:t> </a:t>
            </a:r>
            <a:r>
              <a:rPr lang="en-US" b="1" dirty="0"/>
              <a:t>PVT. LTD.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92A0DE7-F718-4139-B849-DEF5F5FC9C81}"/>
              </a:ext>
            </a:extLst>
          </p:cNvPr>
          <p:cNvSpPr txBox="1">
            <a:spLocks/>
          </p:cNvSpPr>
          <p:nvPr/>
        </p:nvSpPr>
        <p:spPr>
          <a:xfrm>
            <a:off x="0" y="5955492"/>
            <a:ext cx="12191999" cy="40252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err="1"/>
              <a:t>Cin</a:t>
            </a:r>
            <a:r>
              <a:rPr lang="en-US" sz="2400" b="1" dirty="0"/>
              <a:t>: u01100pn2022ptc209861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BD7D4B2-C9BA-FBC6-CC1D-F02F6F23F207}"/>
              </a:ext>
            </a:extLst>
          </p:cNvPr>
          <p:cNvSpPr txBox="1">
            <a:spLocks/>
          </p:cNvSpPr>
          <p:nvPr/>
        </p:nvSpPr>
        <p:spPr>
          <a:xfrm>
            <a:off x="1" y="6382113"/>
            <a:ext cx="12191999" cy="40252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err="1"/>
              <a:t>GSTin</a:t>
            </a:r>
            <a:r>
              <a:rPr lang="en-US" sz="2400" b="1" dirty="0"/>
              <a:t>: 27AAGCI5953D1ZI</a:t>
            </a:r>
          </a:p>
        </p:txBody>
      </p:sp>
    </p:spTree>
    <p:extLst>
      <p:ext uri="{BB962C8B-B14F-4D97-AF65-F5344CB8AC3E}">
        <p14:creationId xmlns:p14="http://schemas.microsoft.com/office/powerpoint/2010/main" val="2845212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2A86-95C9-4493-874C-78ED44239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7819"/>
            <a:ext cx="10364451" cy="1312218"/>
          </a:xfrm>
        </p:spPr>
        <p:txBody>
          <a:bodyPr/>
          <a:lstStyle/>
          <a:p>
            <a:r>
              <a:rPr lang="en-US" sz="4000" b="1" dirty="0">
                <a:solidFill>
                  <a:srgbClr val="C00000"/>
                </a:solidFill>
              </a:rPr>
              <a:t>Zalawadi Goat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milk enhancement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5A924-8C9E-45FD-9402-070D4DD963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56472"/>
            <a:ext cx="10093533" cy="140658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dirty="0"/>
              <a:t>This is a Socio-Economic Project so designed that it is bound to be feasible and viable economically  on ground to benefit the marginal land holders, bpl &amp; nomadic To prevent their migrations, and provide them a better standard of life.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75A410-7655-4D1A-9E47-F91226FDF8F5}"/>
              </a:ext>
            </a:extLst>
          </p:cNvPr>
          <p:cNvSpPr txBox="1">
            <a:spLocks/>
          </p:cNvSpPr>
          <p:nvPr/>
        </p:nvSpPr>
        <p:spPr>
          <a:xfrm>
            <a:off x="176152" y="2663059"/>
            <a:ext cx="7552707" cy="4050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This project is located in village Malpur in Sindkheda tehsil including more than 15 villages FROM the surrounding area of a radius of 30 kilometers From Malpur, covering the two neighboring districts dhule and Nandurbar.</a:t>
            </a:r>
          </a:p>
          <a:p>
            <a:pPr marL="0" indent="0" algn="ctr">
              <a:buNone/>
            </a:pPr>
            <a:r>
              <a:rPr lang="en-US" dirty="0"/>
              <a:t>We are programmed to yield 6,000 liter of goat milk per day in the first year increasing upto 15,000 liters of goat milk per day in next two years. </a:t>
            </a:r>
          </a:p>
          <a:p>
            <a:pPr marL="0" indent="0" algn="ctr">
              <a:buNone/>
            </a:pPr>
            <a:r>
              <a:rPr lang="en-US" dirty="0"/>
              <a:t>Our goal is to achieve a target to yield 25,000 liters of goat milk per day in consequent five years</a:t>
            </a:r>
            <a:r>
              <a:rPr lang="mr-IN" dirty="0"/>
              <a:t> </a:t>
            </a:r>
            <a:r>
              <a:rPr lang="en-US" dirty="0"/>
              <a:t>IN FUTURE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0E2FC-14EB-4648-868E-A6E22093B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553" y="2808828"/>
            <a:ext cx="4428295" cy="403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7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2714C-1BFD-4BEE-ACC5-36C3BF88A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50" y="0"/>
            <a:ext cx="10364451" cy="1150906"/>
          </a:xfrm>
        </p:spPr>
        <p:txBody>
          <a:bodyPr>
            <a:normAutofit/>
          </a:bodyPr>
          <a:lstStyle/>
          <a:p>
            <a:r>
              <a:rPr lang="en-US" sz="3200" dirty="0"/>
              <a:t>Following are the villages </a:t>
            </a:r>
            <a:r>
              <a:rPr lang="en-US" sz="3200" dirty="0" err="1"/>
              <a:t>districtwise</a:t>
            </a:r>
            <a:br>
              <a:rPr lang="en-US" sz="3200" dirty="0"/>
            </a:br>
            <a:r>
              <a:rPr lang="en-US" sz="3200" dirty="0"/>
              <a:t>which are a part of our project.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3E826-6914-4683-BF28-7C258BC09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9384" y="810909"/>
            <a:ext cx="1546894" cy="67999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Dhule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E48E63-F75F-4136-AD2A-B65C77C41E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0015" y="1554720"/>
            <a:ext cx="1867296" cy="50954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Malpur</a:t>
            </a:r>
          </a:p>
          <a:p>
            <a:r>
              <a:rPr lang="en-US" dirty="0"/>
              <a:t>Dondaicha </a:t>
            </a:r>
          </a:p>
          <a:p>
            <a:r>
              <a:rPr lang="en-US" dirty="0"/>
              <a:t>Karle </a:t>
            </a:r>
          </a:p>
          <a:p>
            <a:r>
              <a:rPr lang="en-US" dirty="0"/>
              <a:t>Hatti </a:t>
            </a:r>
          </a:p>
          <a:p>
            <a:r>
              <a:rPr lang="en-US" dirty="0"/>
              <a:t>Balsane </a:t>
            </a:r>
          </a:p>
          <a:p>
            <a:r>
              <a:rPr lang="en-US" dirty="0"/>
              <a:t>Kharde</a:t>
            </a:r>
          </a:p>
          <a:p>
            <a:r>
              <a:rPr lang="en-US" dirty="0"/>
              <a:t>Anjanvihire</a:t>
            </a:r>
          </a:p>
          <a:p>
            <a:r>
              <a:rPr lang="en-US" dirty="0"/>
              <a:t>Shewade </a:t>
            </a:r>
          </a:p>
          <a:p>
            <a:r>
              <a:rPr lang="en-US" dirty="0"/>
              <a:t>Salve</a:t>
            </a:r>
          </a:p>
          <a:p>
            <a:r>
              <a:rPr lang="en-US" dirty="0"/>
              <a:t>Arave</a:t>
            </a:r>
          </a:p>
          <a:p>
            <a:r>
              <a:rPr lang="en-US" dirty="0"/>
              <a:t>Chimthane</a:t>
            </a:r>
          </a:p>
          <a:p>
            <a:r>
              <a:rPr lang="en-US" dirty="0"/>
              <a:t>Lamkani</a:t>
            </a:r>
          </a:p>
          <a:p>
            <a:r>
              <a:rPr lang="en-US" dirty="0"/>
              <a:t>Tavkheda.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6354D0-E322-45A1-BF7A-0F804578D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578236" y="820690"/>
            <a:ext cx="2160455" cy="67999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Nandurbar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DDEB0C-4CBA-4D57-8129-1798D46E77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822091" y="1484918"/>
            <a:ext cx="2042555" cy="2740187"/>
          </a:xfrm>
        </p:spPr>
        <p:txBody>
          <a:bodyPr/>
          <a:lstStyle/>
          <a:p>
            <a:r>
              <a:rPr lang="en-US" dirty="0"/>
              <a:t>Khokrale</a:t>
            </a:r>
          </a:p>
          <a:p>
            <a:r>
              <a:rPr lang="en-US" dirty="0" err="1"/>
              <a:t>Vaindane</a:t>
            </a:r>
            <a:endParaRPr lang="en-US" dirty="0"/>
          </a:p>
          <a:p>
            <a:r>
              <a:rPr lang="en-US" dirty="0" err="1"/>
              <a:t>Ghotane</a:t>
            </a:r>
            <a:endParaRPr lang="en-US" dirty="0"/>
          </a:p>
          <a:p>
            <a:r>
              <a:rPr lang="en-US" dirty="0" err="1"/>
              <a:t>Shanimandal</a:t>
            </a:r>
            <a:r>
              <a:rPr lang="en-US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98AF60-4BE2-421C-837B-732F0EAFC8F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797" y="1022128"/>
            <a:ext cx="6392406" cy="481374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67F2C258-7523-4ED9-B60D-F082C0139F1E}"/>
              </a:ext>
            </a:extLst>
          </p:cNvPr>
          <p:cNvSpPr txBox="1">
            <a:spLocks/>
          </p:cNvSpPr>
          <p:nvPr/>
        </p:nvSpPr>
        <p:spPr>
          <a:xfrm>
            <a:off x="2190042" y="5633343"/>
            <a:ext cx="7388194" cy="10806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There are few more villages</a:t>
            </a:r>
          </a:p>
          <a:p>
            <a:pPr marL="0" indent="0" algn="ctr">
              <a:buNone/>
            </a:pPr>
            <a:r>
              <a:rPr lang="en-US" sz="2400" dirty="0"/>
              <a:t>Under process to be a part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1522588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630311-E65C-4CC2-AC1C-EE201458D1FB}"/>
              </a:ext>
            </a:extLst>
          </p:cNvPr>
          <p:cNvSpPr/>
          <p:nvPr/>
        </p:nvSpPr>
        <p:spPr>
          <a:xfrm>
            <a:off x="2811179" y="393854"/>
            <a:ext cx="74994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OBJECTIVES OF THE PROJECT.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426CE6-30C7-4300-077F-02239A8F6AF0}"/>
              </a:ext>
            </a:extLst>
          </p:cNvPr>
          <p:cNvSpPr/>
          <p:nvPr/>
        </p:nvSpPr>
        <p:spPr>
          <a:xfrm>
            <a:off x="764275" y="2729027"/>
            <a:ext cx="739375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TO FULFILL THISE OBJECTIVES 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WE NEED TO IMPROVE THE GOAT REARING MANAGEMENT PRACTISES IN THE GOAT REARERS  AND PROVIDE PROPER SERVICES TO THE CONSUMERS ON DAILY BASIS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ON THE OTHER HAND, WE NEED TO GET THE CONSUMER INTO THE HABIT OF  CONSUMING GOAT MILK REGULARLY.</a:t>
            </a:r>
          </a:p>
          <a:p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262AF5-6DF7-C15D-5B49-C96537B81BEA}"/>
              </a:ext>
            </a:extLst>
          </p:cNvPr>
          <p:cNvSpPr/>
          <p:nvPr/>
        </p:nvSpPr>
        <p:spPr>
          <a:xfrm>
            <a:off x="910803" y="1145978"/>
            <a:ext cx="862733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OUR MAIN OBJECT IS COLLECTION OF GOAT MILK UNDER THREE ASPECTS. </a:t>
            </a:r>
          </a:p>
          <a:p>
            <a:pPr marL="342900" indent="-342900">
              <a:buAutoNum type="arabicPeriod"/>
            </a:pPr>
            <a:r>
              <a:rPr lang="en-US" sz="2000" dirty="0"/>
              <a:t>QUALITY </a:t>
            </a:r>
          </a:p>
          <a:p>
            <a:pPr marL="342900" indent="-342900">
              <a:buAutoNum type="arabicPeriod"/>
            </a:pPr>
            <a:r>
              <a:rPr lang="en-US" sz="2000" dirty="0"/>
              <a:t>QUANTITY</a:t>
            </a:r>
          </a:p>
          <a:p>
            <a:pPr marL="342900" indent="-342900">
              <a:buAutoNum type="arabicPeriod"/>
            </a:pPr>
            <a:r>
              <a:rPr lang="en-US" sz="2000" dirty="0"/>
              <a:t>CONSISTENCY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3C9053-8D96-6E53-5333-1E415EDFF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026" y="1700677"/>
            <a:ext cx="3787304" cy="375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34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731-986A-42FD-9811-2EE0342F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1979" y="399739"/>
            <a:ext cx="6211421" cy="72339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methodology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75E02B-8E97-4762-98F3-3162F5C0025D}"/>
              </a:ext>
            </a:extLst>
          </p:cNvPr>
          <p:cNvSpPr/>
          <p:nvPr/>
        </p:nvSpPr>
        <p:spPr>
          <a:xfrm>
            <a:off x="189378" y="983155"/>
            <a:ext cx="11808180" cy="5534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marR="0" lv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kern="100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LOCAL MILK COLLECTORS </a:t>
            </a:r>
          </a:p>
          <a:p>
            <a:pPr marR="0" lv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WE HAVE CONVINCED THE LOCAL MILK COLLECTORS TO COLLECT THE MILK ON BEHALF OF THE COMPANY</a:t>
            </a:r>
          </a:p>
          <a:p>
            <a:pPr marR="0" lv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REGULARLY WITH PROPER SCIENTIFIC &amp; HYGENIC MILK COLLECTION SYSTEM. </a:t>
            </a:r>
          </a:p>
          <a:p>
            <a:pPr marR="0" lv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kern="1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kern="100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TAGGING AND COLLECTION OF DATA: </a:t>
            </a:r>
          </a:p>
          <a:p>
            <a:pPr marR="0" lv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WITH THE HELP OF THE ANIMAL HUSBANDRY DEPARTMENT OF MAHARASHTRA GOVERNMENT WE HAVE TAGGED ALL ZALAWADI GOATS FROM OUR AREA OF OPERATION. AND WE ARE COLLECTING AND COMPILING </a:t>
            </a:r>
          </a:p>
          <a:p>
            <a:pPr marR="0" lv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DETAILED MILKING DATA OF EACH GOAT WITH THE HELP OF THE DIGITAL TAGGING</a:t>
            </a:r>
          </a:p>
          <a:p>
            <a:pPr marR="0" lv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kern="1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dirty="0"/>
              <a:t>WE ARE OBTAINING A COMPLETE DATA OF HEALTH, MEDICATION, LACTATION, FODDER, AND EVEN HABITS </a:t>
            </a:r>
          </a:p>
          <a:p>
            <a:pPr algn="ctr"/>
            <a:r>
              <a:rPr lang="en-US" dirty="0"/>
              <a:t>OF EACH AND EVERY TAGGED GOAT IN OUR AREA OF OPERATION. </a:t>
            </a:r>
          </a:p>
          <a:p>
            <a:pPr algn="ctr"/>
            <a:r>
              <a:rPr lang="en-US" dirty="0"/>
              <a:t>THIS DATA IS COLLECTED ON DAILY BASIS AND SENT TO OUR OFFICE FOR RECORD KEEPING  </a:t>
            </a:r>
          </a:p>
          <a:p>
            <a:pPr algn="ctr"/>
            <a:r>
              <a:rPr lang="en-US" dirty="0"/>
              <a:t>TO KEEP CHECK ON THE PERFORMANCE OF EACH GOAT. </a:t>
            </a: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USE OF MILKING DATA</a:t>
            </a:r>
          </a:p>
          <a:p>
            <a:pPr algn="ctr"/>
            <a:r>
              <a:rPr lang="en-US" dirty="0"/>
              <a:t>THE ABOVE MILKING DATA IS OUR SOURCE OF INFORMATION OF THE GOATS</a:t>
            </a:r>
          </a:p>
          <a:p>
            <a:pPr algn="ctr"/>
            <a:r>
              <a:rPr lang="en-US" dirty="0"/>
              <a:t>ENABLING US KEEP A QUALITY CONTROL AND ENHANCING THE QUALITY OF THE GOAT MILK. </a:t>
            </a:r>
            <a:endParaRPr lang="mr-IN" dirty="0"/>
          </a:p>
          <a:p>
            <a:pPr marR="0" lv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49BDD3-D972-4653-970D-58ED7254ABDA}"/>
              </a:ext>
            </a:extLst>
          </p:cNvPr>
          <p:cNvSpPr/>
          <p:nvPr/>
        </p:nvSpPr>
        <p:spPr>
          <a:xfrm>
            <a:off x="1167737" y="1986501"/>
            <a:ext cx="94606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939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731-986A-42FD-9811-2EE0342F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158" y="126501"/>
            <a:ext cx="6211421" cy="72339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methodology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49BDD3-D972-4653-970D-58ED7254ABDA}"/>
              </a:ext>
            </a:extLst>
          </p:cNvPr>
          <p:cNvSpPr/>
          <p:nvPr/>
        </p:nvSpPr>
        <p:spPr>
          <a:xfrm>
            <a:off x="0" y="948382"/>
            <a:ext cx="802506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TRAINING TO FARMERS</a:t>
            </a:r>
          </a:p>
          <a:p>
            <a:pPr algn="ctr"/>
            <a:r>
              <a:rPr lang="en-US" dirty="0"/>
              <a:t>WE WILL BE PROVIDING THE FARMERS A FORMAL COMPLETE TRAINING </a:t>
            </a:r>
          </a:p>
          <a:p>
            <a:pPr algn="ctr"/>
            <a:r>
              <a:rPr lang="en-US" dirty="0"/>
              <a:t>OF THE MODERN METHODS OF GOAT REARING, </a:t>
            </a:r>
          </a:p>
          <a:p>
            <a:pPr algn="ctr"/>
            <a:r>
              <a:rPr lang="en-US" dirty="0"/>
              <a:t>LIKE HOW TO IMPROVISE THE QUALITY OF </a:t>
            </a:r>
          </a:p>
          <a:p>
            <a:pPr algn="ctr"/>
            <a:r>
              <a:rPr lang="en-US" dirty="0"/>
              <a:t>HEALTH, HYGIENE, MILKING DATA AND FODDER OF THEIR GOATS.</a:t>
            </a: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TRAINING TO STAFF</a:t>
            </a:r>
          </a:p>
          <a:p>
            <a:pPr algn="ctr"/>
            <a:r>
              <a:rPr lang="en-US" dirty="0"/>
              <a:t>WE ARE TRAINING OUR STAFF HOW TO COLLECT, COMPILE AND SCRUTINIZE </a:t>
            </a:r>
          </a:p>
          <a:p>
            <a:pPr algn="ctr"/>
            <a:r>
              <a:rPr lang="en-US" dirty="0"/>
              <a:t>THE MILKING DATA, HOW TO HANDLE THE GOATS AND GOAT REARERS</a:t>
            </a:r>
          </a:p>
          <a:p>
            <a:pPr algn="ctr"/>
            <a:r>
              <a:rPr lang="en-US" dirty="0"/>
              <a:t> AND HOW TO IMPROVISE THE PRODUCTIVITY OF THE GOATS</a:t>
            </a:r>
          </a:p>
          <a:p>
            <a:pPr algn="ctr"/>
            <a:endParaRPr lang="en-US" dirty="0"/>
          </a:p>
          <a:p>
            <a:pPr lvl="0" algn="ctr"/>
            <a:r>
              <a:rPr lang="en-US" b="1" dirty="0">
                <a:solidFill>
                  <a:srgbClr val="C00000"/>
                </a:solidFill>
              </a:rPr>
              <a:t>LABORATORY</a:t>
            </a:r>
          </a:p>
          <a:p>
            <a:pPr algn="ctr"/>
            <a:r>
              <a:rPr lang="en-US" dirty="0"/>
              <a:t>ONE MORE IMPORTANT ASPECT OF THIS PROJECT IS </a:t>
            </a:r>
            <a:endParaRPr lang="mr-IN" dirty="0"/>
          </a:p>
          <a:p>
            <a:pPr algn="ctr"/>
            <a:r>
              <a:rPr lang="en-US" dirty="0"/>
              <a:t>A WELL-DESIGNED AND WELL-DEFINED LABORATORY. </a:t>
            </a:r>
            <a:endParaRPr lang="mr-IN" dirty="0"/>
          </a:p>
          <a:p>
            <a:pPr algn="ctr"/>
            <a:r>
              <a:rPr lang="en-US" dirty="0"/>
              <a:t>THIS LAB WILL CHECK THE PH LEVEL OF MILK COLLECTED </a:t>
            </a:r>
          </a:p>
          <a:p>
            <a:pPr algn="ctr"/>
            <a:r>
              <a:rPr lang="en-US" dirty="0"/>
              <a:t>AND PRESERVE THE RECORD OF EACH AND EVERY LITER OF COLLECTED MILK. </a:t>
            </a:r>
          </a:p>
          <a:p>
            <a:pPr algn="ctr"/>
            <a:r>
              <a:rPr lang="en-US" dirty="0"/>
              <a:t>THIS LAB WILL BE WELL EQUIPPED WITH </a:t>
            </a:r>
          </a:p>
          <a:p>
            <a:pPr algn="ctr"/>
            <a:r>
              <a:rPr lang="en-US" dirty="0"/>
              <a:t>ALL THE NECESSARY SURGICAL INSTRUMENTS AND APPARATUS</a:t>
            </a:r>
          </a:p>
          <a:p>
            <a:pPr algn="ctr"/>
            <a:endParaRPr lang="mr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9687FE-2B55-43C6-B61F-448FA5B4E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693" y="812920"/>
            <a:ext cx="4377307" cy="509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955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731-986A-42FD-9811-2EE0342F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605" y="375495"/>
            <a:ext cx="10740788" cy="1083229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TARGETTED ACHIEVEMENT FOR MILK COLLECTION AFTER MONITORING AND MAINTAINING GOATS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BAF1B2F-285C-77EC-D099-D2FAFBC6C540}"/>
              </a:ext>
            </a:extLst>
          </p:cNvPr>
          <p:cNvSpPr txBox="1">
            <a:spLocks/>
          </p:cNvSpPr>
          <p:nvPr/>
        </p:nvSpPr>
        <p:spPr>
          <a:xfrm>
            <a:off x="3181315" y="2212369"/>
            <a:ext cx="6211421" cy="7233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6DDE51-EBAB-DB41-EF1D-FA79B1271BFE}"/>
              </a:ext>
            </a:extLst>
          </p:cNvPr>
          <p:cNvSpPr/>
          <p:nvPr/>
        </p:nvSpPr>
        <p:spPr>
          <a:xfrm>
            <a:off x="1282174" y="1314823"/>
            <a:ext cx="96276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AFTER OBSERVING AND PLANNING IN A PROPER WAY WE AIM AT COLLECTION AND PRESERVATION OF A GOOD QUALITY GOAT MILK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757CB1-9739-0295-0ADD-77C3BF6EDC40}"/>
              </a:ext>
            </a:extLst>
          </p:cNvPr>
          <p:cNvSpPr/>
          <p:nvPr/>
        </p:nvSpPr>
        <p:spPr>
          <a:xfrm>
            <a:off x="1650620" y="4729903"/>
            <a:ext cx="96276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BY ENHANCING THE QUALITY QUANTITY AND CONSISTENCY OF MILK THROUGHOUT THE YEAR. </a:t>
            </a:r>
          </a:p>
          <a:p>
            <a:pPr algn="ctr"/>
            <a:r>
              <a:rPr lang="en-US" dirty="0"/>
              <a:t>THE BEST QUALITY OF MILK WILL PROVE TO BE COMPETENT IN THE OPEN MARKET </a:t>
            </a:r>
          </a:p>
          <a:p>
            <a:pPr algn="ctr"/>
            <a:r>
              <a:rPr lang="en-US" dirty="0"/>
              <a:t>AND BRING STABILITY FOR THE REARERS IN FUTURE.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DFB10D-5D09-7FD2-E78A-8AC265C0A62D}"/>
              </a:ext>
            </a:extLst>
          </p:cNvPr>
          <p:cNvSpPr/>
          <p:nvPr/>
        </p:nvSpPr>
        <p:spPr>
          <a:xfrm>
            <a:off x="5986814" y="2812609"/>
            <a:ext cx="59276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/>
              <a:t>6,000 LITERS TO 10,000 LITERS     DURING  FIRST YEAR</a:t>
            </a:r>
          </a:p>
          <a:p>
            <a:pPr lvl="0" algn="ctr"/>
            <a:r>
              <a:rPr lang="en-US" dirty="0"/>
              <a:t>10,000 LITERS TO 15,000 LITERS       DURING SECOND YEAR</a:t>
            </a:r>
          </a:p>
          <a:p>
            <a:pPr lvl="0" algn="ctr"/>
            <a:r>
              <a:rPr lang="en-US" dirty="0"/>
              <a:t>  25,000 LITERS OF MILK               DURING THIRD YEAR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6495884-CF78-DAAB-2A7B-6384DC803B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9806779"/>
              </p:ext>
            </p:extLst>
          </p:nvPr>
        </p:nvGraphicFramePr>
        <p:xfrm>
          <a:off x="1650620" y="2069860"/>
          <a:ext cx="4014714" cy="2408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1286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731-986A-42FD-9811-2EE0342F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079" y="-15998"/>
            <a:ext cx="6211421" cy="723393"/>
          </a:xfrm>
        </p:spPr>
        <p:txBody>
          <a:bodyPr>
            <a:noAutofit/>
          </a:bodyPr>
          <a:lstStyle/>
          <a:p>
            <a:pPr lvl="0"/>
            <a:r>
              <a:rPr lang="en-US" sz="2400" b="1" dirty="0">
                <a:solidFill>
                  <a:srgbClr val="C00000"/>
                </a:solidFill>
              </a:rPr>
              <a:t>THE LEGENDS INVOLVED IN THE PROJECT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AD2F5D-5376-4EEE-9973-ECBF305B38DE}"/>
              </a:ext>
            </a:extLst>
          </p:cNvPr>
          <p:cNvSpPr/>
          <p:nvPr/>
        </p:nvSpPr>
        <p:spPr>
          <a:xfrm>
            <a:off x="353566" y="2261718"/>
            <a:ext cx="30827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 ICAR-CIRG, MATHURA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9487B5-345B-4557-B4C0-318C20F4A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82" y="634206"/>
            <a:ext cx="3082022" cy="16221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4C4A10-BDC3-41E1-95CC-6B33790C8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909" y="643424"/>
            <a:ext cx="2968473" cy="16221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1BC5A9-86A3-40B6-8A99-FFC343D31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831" y="634205"/>
            <a:ext cx="3053883" cy="16221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D0AFAF-EC0D-4CB4-8694-DD934782F9A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768" b="8247"/>
          <a:stretch/>
        </p:blipFill>
        <p:spPr>
          <a:xfrm>
            <a:off x="2336745" y="2664702"/>
            <a:ext cx="3082738" cy="16428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235C96-5913-4EBA-9B0B-1412D0ECA7C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1370" b="7590"/>
          <a:stretch/>
        </p:blipFill>
        <p:spPr>
          <a:xfrm>
            <a:off x="6755879" y="2634692"/>
            <a:ext cx="3082022" cy="164288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FF99FAC-5C06-4144-83DA-184C479C82B3}"/>
              </a:ext>
            </a:extLst>
          </p:cNvPr>
          <p:cNvSpPr/>
          <p:nvPr/>
        </p:nvSpPr>
        <p:spPr>
          <a:xfrm>
            <a:off x="4424908" y="2259743"/>
            <a:ext cx="29684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 ICAR-CIRC, MEERUT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670C78-DDD5-4064-B60D-2F96A0D99BEF}"/>
              </a:ext>
            </a:extLst>
          </p:cNvPr>
          <p:cNvSpPr/>
          <p:nvPr/>
        </p:nvSpPr>
        <p:spPr>
          <a:xfrm>
            <a:off x="8527692" y="2257768"/>
            <a:ext cx="30820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 ICAR-CSWRI, JAIPUR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B33C1E-C8B6-4058-B250-431FC9B063DA}"/>
              </a:ext>
            </a:extLst>
          </p:cNvPr>
          <p:cNvSpPr/>
          <p:nvPr/>
        </p:nvSpPr>
        <p:spPr>
          <a:xfrm>
            <a:off x="1369988" y="4940989"/>
            <a:ext cx="16463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 ANIMAL</a:t>
            </a:r>
          </a:p>
          <a:p>
            <a:pPr algn="ctr"/>
            <a:r>
              <a:rPr lang="en-US" dirty="0"/>
              <a:t>HUSBANDRY</a:t>
            </a:r>
          </a:p>
          <a:p>
            <a:pPr algn="ctr"/>
            <a:r>
              <a:rPr lang="en-US" dirty="0"/>
              <a:t>DEPARTMENT, </a:t>
            </a:r>
          </a:p>
          <a:p>
            <a:pPr algn="ctr"/>
            <a:r>
              <a:rPr lang="en-US" dirty="0"/>
              <a:t>MAHARASHTRA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E6D513-264F-42CE-A00E-BC039109FB28}"/>
              </a:ext>
            </a:extLst>
          </p:cNvPr>
          <p:cNvSpPr/>
          <p:nvPr/>
        </p:nvSpPr>
        <p:spPr>
          <a:xfrm>
            <a:off x="2541319" y="4312823"/>
            <a:ext cx="26006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 MAFSU, NAGPUR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7D2F89-FC0D-4876-B4ED-FEEC56B966BF}"/>
              </a:ext>
            </a:extLst>
          </p:cNvPr>
          <p:cNvSpPr/>
          <p:nvPr/>
        </p:nvSpPr>
        <p:spPr>
          <a:xfrm>
            <a:off x="7247906" y="4316236"/>
            <a:ext cx="2097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 BAIF, PUNE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A3A4D59-964D-450C-8E90-32A9D44E46B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" t="21244" r="4793"/>
          <a:stretch/>
        </p:blipFill>
        <p:spPr>
          <a:xfrm>
            <a:off x="3033240" y="4821031"/>
            <a:ext cx="2850079" cy="180504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22E63F-5444-4BBB-BCD0-DEA80601DEF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40693" b="26060"/>
          <a:stretch/>
        </p:blipFill>
        <p:spPr>
          <a:xfrm>
            <a:off x="6199411" y="4821031"/>
            <a:ext cx="3082738" cy="180886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E312E64-963A-486C-9977-70152AA2EF13}"/>
              </a:ext>
            </a:extLst>
          </p:cNvPr>
          <p:cNvSpPr/>
          <p:nvPr/>
        </p:nvSpPr>
        <p:spPr>
          <a:xfrm>
            <a:off x="9310255" y="4950888"/>
            <a:ext cx="12944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</a:t>
            </a:r>
          </a:p>
          <a:p>
            <a:pPr algn="ctr"/>
            <a:r>
              <a:rPr lang="en-US" dirty="0"/>
              <a:t>BHARATIYA</a:t>
            </a:r>
          </a:p>
          <a:p>
            <a:pPr algn="ctr"/>
            <a:r>
              <a:rPr lang="en-US" dirty="0"/>
              <a:t>KRUSHAK </a:t>
            </a:r>
          </a:p>
          <a:p>
            <a:pPr algn="ctr"/>
            <a:r>
              <a:rPr lang="en-US" dirty="0"/>
              <a:t>SAMAJ</a:t>
            </a:r>
          </a:p>
        </p:txBody>
      </p:sp>
    </p:spTree>
    <p:extLst>
      <p:ext uri="{BB962C8B-B14F-4D97-AF65-F5344CB8AC3E}">
        <p14:creationId xmlns:p14="http://schemas.microsoft.com/office/powerpoint/2010/main" val="3727676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731-986A-42FD-9811-2EE0342F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079" y="-15998"/>
            <a:ext cx="6211421" cy="723393"/>
          </a:xfrm>
        </p:spPr>
        <p:txBody>
          <a:bodyPr>
            <a:noAutofit/>
          </a:bodyPr>
          <a:lstStyle/>
          <a:p>
            <a:pPr lvl="0"/>
            <a:r>
              <a:rPr lang="en-US" sz="2400" b="1" dirty="0">
                <a:solidFill>
                  <a:srgbClr val="C00000"/>
                </a:solidFill>
              </a:rPr>
              <a:t>THE LEGENDS INVOLVED IN THE PROJECT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AD2F5D-5376-4EEE-9973-ECBF305B38DE}"/>
              </a:ext>
            </a:extLst>
          </p:cNvPr>
          <p:cNvSpPr/>
          <p:nvPr/>
        </p:nvSpPr>
        <p:spPr>
          <a:xfrm>
            <a:off x="783776" y="2982158"/>
            <a:ext cx="32758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PADMA SHREE DR. RAJ PARODA AND DR. MANISHKUMAR CHATLI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F99FAC-5C06-4144-83DA-184C479C82B3}"/>
              </a:ext>
            </a:extLst>
          </p:cNvPr>
          <p:cNvSpPr/>
          <p:nvPr/>
        </p:nvSpPr>
        <p:spPr>
          <a:xfrm>
            <a:off x="4375028" y="2756162"/>
            <a:ext cx="33857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MR. ANIL ANNASAHEB SHINDE.</a:t>
            </a:r>
          </a:p>
          <a:p>
            <a:pPr algn="ctr"/>
            <a:r>
              <a:rPr lang="en-US" dirty="0"/>
              <a:t>AND DR. SYED ALI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670C78-DDD5-4064-B60D-2F96A0D99BEF}"/>
              </a:ext>
            </a:extLst>
          </p:cNvPr>
          <p:cNvSpPr/>
          <p:nvPr/>
        </p:nvSpPr>
        <p:spPr>
          <a:xfrm>
            <a:off x="8259299" y="2978922"/>
            <a:ext cx="37419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DR. DATTATREY RANGANEKAR </a:t>
            </a:r>
          </a:p>
          <a:p>
            <a:pPr algn="ctr"/>
            <a:r>
              <a:rPr lang="en-US" dirty="0"/>
              <a:t>&amp; DR. ASHWINI GHORPADE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B33C1E-C8B6-4058-B250-431FC9B063DA}"/>
              </a:ext>
            </a:extLst>
          </p:cNvPr>
          <p:cNvSpPr/>
          <p:nvPr/>
        </p:nvSpPr>
        <p:spPr>
          <a:xfrm>
            <a:off x="623366" y="5631028"/>
            <a:ext cx="34200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HON’BLE COLLECTOR, </a:t>
            </a:r>
          </a:p>
          <a:p>
            <a:pPr algn="ctr"/>
            <a:r>
              <a:rPr lang="en-US" dirty="0"/>
              <a:t>DHULE DISTRICT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CC2F76-324A-4B50-AF72-AE4DED98DE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51" b="11734"/>
          <a:stretch/>
        </p:blipFill>
        <p:spPr>
          <a:xfrm>
            <a:off x="958813" y="1198709"/>
            <a:ext cx="3074102" cy="17802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B116D4-6490-4A95-AD56-4F5466B85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73" y="4004206"/>
            <a:ext cx="2847079" cy="16399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83C3CB-BCFF-473F-9DA9-466A541F27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835"/>
          <a:stretch/>
        </p:blipFill>
        <p:spPr>
          <a:xfrm>
            <a:off x="8259299" y="1202299"/>
            <a:ext cx="3074102" cy="1780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0746B3-23B3-44AF-9BFD-814D7F5BDCD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199"/>
          <a:stretch/>
        </p:blipFill>
        <p:spPr>
          <a:xfrm>
            <a:off x="4534525" y="745430"/>
            <a:ext cx="3166530" cy="20376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FC948D-C420-4052-9288-B0A32172932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5783" b="3138"/>
          <a:stretch/>
        </p:blipFill>
        <p:spPr>
          <a:xfrm>
            <a:off x="4534525" y="3479468"/>
            <a:ext cx="3018181" cy="18366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AE03A6-E680-4EDE-98B5-13CDA45F668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2272" b="32115"/>
          <a:stretch/>
        </p:blipFill>
        <p:spPr>
          <a:xfrm>
            <a:off x="8487336" y="3953603"/>
            <a:ext cx="2847079" cy="173256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C4D9C19-FC7D-474F-86F3-C8B91193EE00}"/>
              </a:ext>
            </a:extLst>
          </p:cNvPr>
          <p:cNvSpPr/>
          <p:nvPr/>
        </p:nvSpPr>
        <p:spPr>
          <a:xfrm>
            <a:off x="8107183" y="5644172"/>
            <a:ext cx="34200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HON’BLE DR. NITEEN PATIL</a:t>
            </a:r>
          </a:p>
          <a:p>
            <a:pPr algn="ctr"/>
            <a:r>
              <a:rPr lang="en-US" dirty="0"/>
              <a:t>VICE CHANCELLOR, MAFSU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291A58-1F0A-4426-8B9C-1D9C7476805E}"/>
              </a:ext>
            </a:extLst>
          </p:cNvPr>
          <p:cNvSpPr/>
          <p:nvPr/>
        </p:nvSpPr>
        <p:spPr>
          <a:xfrm>
            <a:off x="4084818" y="5307369"/>
            <a:ext cx="38716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HON’BLE MINISTER AGRI. </a:t>
            </a:r>
          </a:p>
          <a:p>
            <a:pPr algn="ctr"/>
            <a:r>
              <a:rPr lang="en-US" dirty="0"/>
              <a:t>SHRI. MAHADEV KOKATE, WITH HON’BLE COLLECTOR, NANDURBAR.</a:t>
            </a:r>
          </a:p>
        </p:txBody>
      </p:sp>
    </p:spTree>
    <p:extLst>
      <p:ext uri="{BB962C8B-B14F-4D97-AF65-F5344CB8AC3E}">
        <p14:creationId xmlns:p14="http://schemas.microsoft.com/office/powerpoint/2010/main" val="3804981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731-986A-42FD-9811-2EE0342F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080" y="276908"/>
            <a:ext cx="2241510" cy="723393"/>
          </a:xfrm>
        </p:spPr>
        <p:txBody>
          <a:bodyPr>
            <a:noAutofit/>
          </a:bodyPr>
          <a:lstStyle/>
          <a:p>
            <a:pPr lvl="0"/>
            <a:r>
              <a:rPr lang="en-US" sz="2400" b="1" dirty="0">
                <a:solidFill>
                  <a:srgbClr val="C00000"/>
                </a:solidFill>
              </a:rPr>
              <a:t>THE PROJECT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AT A GLANCE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AD2F5D-5376-4EEE-9973-ECBF305B38DE}"/>
              </a:ext>
            </a:extLst>
          </p:cNvPr>
          <p:cNvSpPr/>
          <p:nvPr/>
        </p:nvSpPr>
        <p:spPr>
          <a:xfrm>
            <a:off x="7531440" y="3980842"/>
            <a:ext cx="1828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SHANIMANDAL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B33C1E-C8B6-4058-B250-431FC9B063DA}"/>
              </a:ext>
            </a:extLst>
          </p:cNvPr>
          <p:cNvSpPr/>
          <p:nvPr/>
        </p:nvSpPr>
        <p:spPr>
          <a:xfrm>
            <a:off x="3202795" y="4255291"/>
            <a:ext cx="1286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KARLE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CFE4D-7131-4CF2-ABA9-811CD39AF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290" y="2104645"/>
            <a:ext cx="2465939" cy="18509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9A2412-72B8-4F85-8BC7-351EE22C7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384" y="1437845"/>
            <a:ext cx="2097206" cy="279221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9CFF359-A80A-4FF8-A62D-DB0C1FF39EA9}"/>
              </a:ext>
            </a:extLst>
          </p:cNvPr>
          <p:cNvSpPr/>
          <p:nvPr/>
        </p:nvSpPr>
        <p:spPr>
          <a:xfrm>
            <a:off x="2657738" y="6488668"/>
            <a:ext cx="13349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LAMKANI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2214FF-AFA1-4465-880D-B2B01A9DBD0D}"/>
              </a:ext>
            </a:extLst>
          </p:cNvPr>
          <p:cNvSpPr/>
          <p:nvPr/>
        </p:nvSpPr>
        <p:spPr>
          <a:xfrm>
            <a:off x="8960690" y="6501893"/>
            <a:ext cx="1324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GHOTANE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EB67B1-8242-4328-AC6D-A181DDB9C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461" y="4363546"/>
            <a:ext cx="2830992" cy="21251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AF5951-F54A-4676-80C8-347617F34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2009" y="4566504"/>
            <a:ext cx="2607759" cy="19577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9690FC-C465-40EF-99E1-8A1CB9A5A2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6024" y="598833"/>
            <a:ext cx="2182557" cy="328602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3E49AA9-3D18-4A8D-88EC-42D47EA00011}"/>
              </a:ext>
            </a:extLst>
          </p:cNvPr>
          <p:cNvSpPr/>
          <p:nvPr/>
        </p:nvSpPr>
        <p:spPr>
          <a:xfrm>
            <a:off x="10172172" y="3885959"/>
            <a:ext cx="1324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MALPUR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4624075-E991-4778-B943-8E73479DE3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534" y="2841868"/>
            <a:ext cx="1851326" cy="2704258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1012A63-8572-4D38-BC79-B444AE9668DD}"/>
              </a:ext>
            </a:extLst>
          </p:cNvPr>
          <p:cNvSpPr/>
          <p:nvPr/>
        </p:nvSpPr>
        <p:spPr>
          <a:xfrm>
            <a:off x="240683" y="5528053"/>
            <a:ext cx="17070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HATTI KHURD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9AF967A-C891-474E-9FBE-61DC526A0D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6454" y="4465492"/>
            <a:ext cx="2823872" cy="212512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6FFD84B2-F86E-4EB8-9CE8-718C54B52BEF}"/>
              </a:ext>
            </a:extLst>
          </p:cNvPr>
          <p:cNvSpPr/>
          <p:nvPr/>
        </p:nvSpPr>
        <p:spPr>
          <a:xfrm>
            <a:off x="5753139" y="6592282"/>
            <a:ext cx="1324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SALWE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7CAB5C7-EEEF-470E-8DE6-2D6DE56F22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170" y="320621"/>
            <a:ext cx="2773237" cy="2083703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4A1F473-4DB3-44A8-BDC7-6F82ED3524B8}"/>
              </a:ext>
            </a:extLst>
          </p:cNvPr>
          <p:cNvSpPr/>
          <p:nvPr/>
        </p:nvSpPr>
        <p:spPr>
          <a:xfrm>
            <a:off x="746744" y="2402734"/>
            <a:ext cx="1286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SHEWADE 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39A7F84-8FAC-4574-B670-DEE78F6BC0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9098" y="113695"/>
            <a:ext cx="2621507" cy="196917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A2CB9FA-2DC4-4B38-9892-BB3CC2FDB79A}"/>
              </a:ext>
            </a:extLst>
          </p:cNvPr>
          <p:cNvSpPr/>
          <p:nvPr/>
        </p:nvSpPr>
        <p:spPr>
          <a:xfrm>
            <a:off x="5501049" y="2402734"/>
            <a:ext cx="1828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CHIMTHANE 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E8792208-949D-423A-80B8-C5245A16F8F0}"/>
              </a:ext>
            </a:extLst>
          </p:cNvPr>
          <p:cNvSpPr txBox="1">
            <a:spLocks/>
          </p:cNvSpPr>
          <p:nvPr/>
        </p:nvSpPr>
        <p:spPr>
          <a:xfrm>
            <a:off x="7656980" y="263058"/>
            <a:ext cx="2241510" cy="7233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C00000"/>
                </a:solidFill>
              </a:rPr>
              <a:t>CLICKED BY THE LSS STAFF</a:t>
            </a:r>
          </a:p>
        </p:txBody>
      </p:sp>
    </p:spTree>
    <p:extLst>
      <p:ext uri="{BB962C8B-B14F-4D97-AF65-F5344CB8AC3E}">
        <p14:creationId xmlns:p14="http://schemas.microsoft.com/office/powerpoint/2010/main" val="1209687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731-986A-42FD-9811-2EE0342F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718" y="2705607"/>
            <a:ext cx="11232419" cy="723393"/>
          </a:xfrm>
        </p:spPr>
        <p:txBody>
          <a:bodyPr>
            <a:noAutofit/>
          </a:bodyPr>
          <a:lstStyle/>
          <a:p>
            <a:pPr lvl="0"/>
            <a:r>
              <a:rPr lang="en-US" sz="2400" b="1" dirty="0">
                <a:solidFill>
                  <a:srgbClr val="C00000"/>
                </a:solidFill>
              </a:rPr>
              <a:t>THE ZALAWADI GOAT HEALTH CHECKUP AND HEALTH CARD DISTRIBUTION CAMP,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10</a:t>
            </a:r>
            <a:r>
              <a:rPr lang="en-US" sz="2400" b="1" baseline="30000" dirty="0">
                <a:solidFill>
                  <a:srgbClr val="C00000"/>
                </a:solidFill>
              </a:rPr>
              <a:t>TH</a:t>
            </a:r>
            <a:r>
              <a:rPr lang="en-US" sz="2400" b="1" dirty="0">
                <a:solidFill>
                  <a:srgbClr val="C00000"/>
                </a:solidFill>
              </a:rPr>
              <a:t> APRIL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79DF03-C8F3-41DE-85D6-78067A5CA6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383"/>
          <a:stretch/>
        </p:blipFill>
        <p:spPr>
          <a:xfrm>
            <a:off x="188902" y="844322"/>
            <a:ext cx="2824613" cy="16736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7F719C-7154-443A-A7ED-F0B0F5FBDA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45" b="17790"/>
          <a:stretch/>
        </p:blipFill>
        <p:spPr>
          <a:xfrm>
            <a:off x="3054442" y="268008"/>
            <a:ext cx="2824613" cy="16560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284D8E-E5AE-4265-B169-C780D878E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982" y="861905"/>
            <a:ext cx="2803309" cy="16560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AE6426-9BEE-4C41-911C-5AC1B8B192E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5" b="18470"/>
          <a:stretch/>
        </p:blipFill>
        <p:spPr>
          <a:xfrm>
            <a:off x="8785522" y="310365"/>
            <a:ext cx="2829615" cy="1656080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D1BC8C53-92F4-4DD8-95A9-389B6213E2CA}"/>
              </a:ext>
            </a:extLst>
          </p:cNvPr>
          <p:cNvSpPr txBox="1">
            <a:spLocks/>
          </p:cNvSpPr>
          <p:nvPr/>
        </p:nvSpPr>
        <p:spPr>
          <a:xfrm>
            <a:off x="595698" y="5853618"/>
            <a:ext cx="4917488" cy="7233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C00000"/>
                </a:solidFill>
              </a:rPr>
              <a:t>THE PUBLIC ANNOUNCEMENT OF THE PROJECT 29</a:t>
            </a:r>
            <a:r>
              <a:rPr lang="en-US" sz="2400" b="1" baseline="30000" dirty="0">
                <a:solidFill>
                  <a:srgbClr val="C00000"/>
                </a:solidFill>
              </a:rPr>
              <a:t>TH</a:t>
            </a:r>
            <a:r>
              <a:rPr lang="en-US" sz="2400" b="1" dirty="0">
                <a:solidFill>
                  <a:srgbClr val="C00000"/>
                </a:solidFill>
              </a:rPr>
              <a:t> APRIL 2025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D3C591F-0C3A-451A-B36C-3B5D2913EA44}"/>
              </a:ext>
            </a:extLst>
          </p:cNvPr>
          <p:cNvSpPr txBox="1">
            <a:spLocks/>
          </p:cNvSpPr>
          <p:nvPr/>
        </p:nvSpPr>
        <p:spPr>
          <a:xfrm>
            <a:off x="6617991" y="5827237"/>
            <a:ext cx="5292959" cy="7233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C00000"/>
                </a:solidFill>
              </a:rPr>
              <a:t>THE GOAT URINE DISTILLATION UNIT STARTS 15</a:t>
            </a:r>
            <a:r>
              <a:rPr lang="en-US" sz="2400" b="1" baseline="30000" dirty="0">
                <a:solidFill>
                  <a:srgbClr val="C00000"/>
                </a:solidFill>
              </a:rPr>
              <a:t>TH</a:t>
            </a:r>
            <a:r>
              <a:rPr lang="en-US" sz="2400" b="1" dirty="0">
                <a:solidFill>
                  <a:srgbClr val="C00000"/>
                </a:solidFill>
              </a:rPr>
              <a:t> JULY 2025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91E4BC8-FA54-4D40-B926-94194064D32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08"/>
          <a:stretch/>
        </p:blipFill>
        <p:spPr>
          <a:xfrm>
            <a:off x="281087" y="3321269"/>
            <a:ext cx="2732428" cy="172906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27DB710-C1E3-4337-B6E9-480F5A6679A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6" t="11443" r="13924" b="15164"/>
          <a:stretch/>
        </p:blipFill>
        <p:spPr>
          <a:xfrm>
            <a:off x="3054442" y="3928179"/>
            <a:ext cx="2644876" cy="167366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30B5A75-9ABA-4AD3-B3B0-E13EA35CE7A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15627"/>
          <a:stretch/>
        </p:blipFill>
        <p:spPr>
          <a:xfrm>
            <a:off x="6096000" y="3870666"/>
            <a:ext cx="2826650" cy="178868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010582B-457C-45DA-9443-3F9702B20C6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2308"/>
          <a:stretch/>
        </p:blipFill>
        <p:spPr>
          <a:xfrm>
            <a:off x="8942551" y="3321269"/>
            <a:ext cx="2932255" cy="181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69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731-986A-42FD-9811-2EE0342F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079" y="42715"/>
            <a:ext cx="6211421" cy="535311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solidFill>
                  <a:srgbClr val="C00000"/>
                </a:solidFill>
              </a:rPr>
              <a:t>Value additional units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49BDD3-D972-4653-970D-58ED7254ABDA}"/>
              </a:ext>
            </a:extLst>
          </p:cNvPr>
          <p:cNvSpPr/>
          <p:nvPr/>
        </p:nvSpPr>
        <p:spPr>
          <a:xfrm>
            <a:off x="2501734" y="578026"/>
            <a:ext cx="742603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b="1" dirty="0"/>
              <a:t>Since we all know the goat milk is a great immunity booster </a:t>
            </a:r>
          </a:p>
          <a:p>
            <a:pPr lvl="0" algn="ctr"/>
            <a:r>
              <a:rPr lang="en-US" b="1" dirty="0"/>
              <a:t>having higher nutritional and medicinal values with lesser fat proportion. </a:t>
            </a:r>
          </a:p>
          <a:p>
            <a:pPr lvl="0" algn="ctr"/>
            <a:r>
              <a:rPr lang="en-US" b="1" dirty="0"/>
              <a:t>We have focused on an improved marketing strategy for the same.</a:t>
            </a:r>
          </a:p>
          <a:p>
            <a:pPr lvl="0" algn="ctr"/>
            <a:r>
              <a:rPr lang="en-US" b="1" dirty="0"/>
              <a:t>We aim at enabling the Goat Rearer get a competitive price for the milk.</a:t>
            </a:r>
          </a:p>
          <a:p>
            <a:pPr lvl="0" algn="ctr"/>
            <a:r>
              <a:rPr lang="en-US" b="1" dirty="0"/>
              <a:t>Keep his goats free from all the diseases and epidemics. </a:t>
            </a:r>
          </a:p>
          <a:p>
            <a:pPr lvl="0" algn="ctr"/>
            <a:r>
              <a:rPr lang="en-US" b="1" dirty="0"/>
              <a:t>Bring down the mortality rate down so that the Goat Rearers should </a:t>
            </a:r>
          </a:p>
          <a:p>
            <a:pPr lvl="0" algn="ctr"/>
            <a:r>
              <a:rPr lang="en-US" b="1" dirty="0"/>
              <a:t>Be able to look at it throughout the year instead of selling it off.</a:t>
            </a:r>
          </a:p>
          <a:p>
            <a:pPr lvl="0" algn="ctr"/>
            <a:r>
              <a:rPr lang="en-US" b="1" dirty="0"/>
              <a:t>We are also focused on enhancing the quality and quantity of the breed </a:t>
            </a:r>
          </a:p>
          <a:p>
            <a:pPr lvl="0" algn="ctr"/>
            <a:r>
              <a:rPr lang="en-US" b="1" dirty="0"/>
              <a:t>as we are proud to preserve this indigenous heritage.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CEAA6D-6802-40CF-A11E-DDDA4F43B7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97" b="13766"/>
          <a:stretch/>
        </p:blipFill>
        <p:spPr>
          <a:xfrm>
            <a:off x="-1" y="0"/>
            <a:ext cx="2501735" cy="3143075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D89D59-A06D-4A2D-99E2-5488B59E8D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12" b="16294"/>
          <a:stretch/>
        </p:blipFill>
        <p:spPr>
          <a:xfrm>
            <a:off x="9690057" y="-80555"/>
            <a:ext cx="2632111" cy="3509555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D8088C-D352-42F7-933E-A2DF3BD19C3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93" b="28817"/>
          <a:stretch/>
        </p:blipFill>
        <p:spPr>
          <a:xfrm>
            <a:off x="2501734" y="3270227"/>
            <a:ext cx="7426036" cy="319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088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338B5-49BF-629C-578A-0EAB74C27DE5}"/>
              </a:ext>
            </a:extLst>
          </p:cNvPr>
          <p:cNvSpPr txBox="1">
            <a:spLocks/>
          </p:cNvSpPr>
          <p:nvPr/>
        </p:nvSpPr>
        <p:spPr>
          <a:xfrm>
            <a:off x="0" y="230816"/>
            <a:ext cx="12192000" cy="71372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/>
              <a:t>DAIRY AND MILK PROCESSING CENTER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801827-73C7-CA04-2AE4-FF6B3345EFA0}"/>
              </a:ext>
            </a:extLst>
          </p:cNvPr>
          <p:cNvSpPr/>
          <p:nvPr/>
        </p:nvSpPr>
        <p:spPr>
          <a:xfrm>
            <a:off x="2207912" y="913005"/>
            <a:ext cx="591744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000" b="1" dirty="0"/>
              <a:t>WE HAVE NOW A CO</a:t>
            </a:r>
            <a:r>
              <a:rPr lang="en-IN" sz="2000" b="1" dirty="0"/>
              <a:t>M</a:t>
            </a:r>
            <a:r>
              <a:rPr lang="en-US" sz="2000" b="1" dirty="0"/>
              <a:t>PLETE READY DAIRY SET UP WITH A PROPER CONVEYOR BELT, COMPUTARISED WEIGHING MACHINE DUMP TANK</a:t>
            </a:r>
            <a:r>
              <a:rPr lang="mr-IN" sz="2000" b="1" dirty="0"/>
              <a:t>, </a:t>
            </a:r>
            <a:r>
              <a:rPr lang="en-US" sz="2000" b="1" dirty="0"/>
              <a:t>6 BULK MILK CHILLER (BMC) CONTAINERS OF 5000 LTR EACH, </a:t>
            </a:r>
          </a:p>
          <a:p>
            <a:pPr lvl="0" algn="ctr"/>
            <a:r>
              <a:rPr lang="en-US" sz="2000" b="1" dirty="0"/>
              <a:t>A PROPER LABORATORY SET UP </a:t>
            </a:r>
          </a:p>
          <a:p>
            <a:pPr lvl="0" algn="ctr"/>
            <a:r>
              <a:rPr lang="en-US" sz="2000" b="1" dirty="0"/>
              <a:t>FOR ALL TYPES OF MILK TESTING. </a:t>
            </a:r>
          </a:p>
          <a:p>
            <a:pPr lvl="0" algn="ctr"/>
            <a:r>
              <a:rPr lang="en-US" sz="2000" b="1" dirty="0"/>
              <a:t>ALONG WITH HOT WATER BOILER, </a:t>
            </a:r>
          </a:p>
          <a:p>
            <a:pPr lvl="0" algn="ctr"/>
            <a:r>
              <a:rPr lang="en-US" sz="2000" b="1" dirty="0"/>
              <a:t>125 KILO VOLT-AMPERES GENERATOR, </a:t>
            </a:r>
          </a:p>
          <a:p>
            <a:pPr lvl="0" algn="ctr"/>
            <a:r>
              <a:rPr lang="en-US" sz="2000" b="1" dirty="0"/>
              <a:t>A COMPLETE AIRCONDITIONING UNIT.</a:t>
            </a:r>
            <a:endParaRPr lang="mr-IN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BB2B35-70F6-6921-A028-85E7DCA41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5481" y="961694"/>
            <a:ext cx="4035975" cy="30269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1068FA-B7D1-6928-2219-8D9F4F7E9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58" b="33642"/>
          <a:stretch>
            <a:fillRect/>
          </a:stretch>
        </p:blipFill>
        <p:spPr>
          <a:xfrm>
            <a:off x="1117977" y="2658219"/>
            <a:ext cx="1834600" cy="17326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F05D5E-AA9A-C82A-44F2-1D4CB854AD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04" b="9655"/>
          <a:stretch>
            <a:fillRect/>
          </a:stretch>
        </p:blipFill>
        <p:spPr>
          <a:xfrm>
            <a:off x="7977717" y="4070276"/>
            <a:ext cx="1932489" cy="25569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60DEDB-3B14-4DDA-4E44-5A03F60019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92" b="9655"/>
          <a:stretch>
            <a:fillRect/>
          </a:stretch>
        </p:blipFill>
        <p:spPr>
          <a:xfrm>
            <a:off x="189984" y="820777"/>
            <a:ext cx="1672657" cy="20165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CA5861-FE3A-40C0-0B09-E4FB7CCD68C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253"/>
          <a:stretch>
            <a:fillRect/>
          </a:stretch>
        </p:blipFill>
        <p:spPr>
          <a:xfrm>
            <a:off x="3505339" y="3984727"/>
            <a:ext cx="3919616" cy="272800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0A9F7D-039E-66E2-CE89-7D5C9C762552}"/>
              </a:ext>
            </a:extLst>
          </p:cNvPr>
          <p:cNvSpPr/>
          <p:nvPr/>
        </p:nvSpPr>
        <p:spPr>
          <a:xfrm>
            <a:off x="83960" y="4996564"/>
            <a:ext cx="331535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000" b="1" dirty="0"/>
              <a:t>THE OFFICERS VISIT OF THE STATE BANK OF INDIA </a:t>
            </a:r>
          </a:p>
          <a:p>
            <a:pPr lvl="0" algn="ctr"/>
            <a:r>
              <a:rPr lang="en-US" sz="2000" b="1" dirty="0"/>
              <a:t>TO OUR PROJECT OFFICE</a:t>
            </a:r>
          </a:p>
          <a:p>
            <a:pPr lvl="0" algn="ctr"/>
            <a:r>
              <a:rPr lang="en-US" sz="2000" b="1" dirty="0"/>
              <a:t>AT MALPUR</a:t>
            </a:r>
            <a:endParaRPr lang="mr-IN" sz="2000" b="1" dirty="0"/>
          </a:p>
        </p:txBody>
      </p:sp>
      <p:sp>
        <p:nvSpPr>
          <p:cNvPr id="11" name="Arrow: Striped Right 10">
            <a:extLst>
              <a:ext uri="{FF2B5EF4-FFF2-40B4-BE49-F238E27FC236}">
                <a16:creationId xmlns:a16="http://schemas.microsoft.com/office/drawing/2014/main" id="{6162B4F8-C58D-52C4-AEC8-B0A0FEA56706}"/>
              </a:ext>
            </a:extLst>
          </p:cNvPr>
          <p:cNvSpPr/>
          <p:nvPr/>
        </p:nvSpPr>
        <p:spPr>
          <a:xfrm>
            <a:off x="2458227" y="5889116"/>
            <a:ext cx="976959" cy="430887"/>
          </a:xfrm>
          <a:prstGeom prst="stripedRightArrow">
            <a:avLst/>
          </a:prstGeom>
          <a:solidFill>
            <a:srgbClr val="C0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7EB091-8FC2-9A25-A0EF-35AC47DFEE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0990" b="11265"/>
          <a:stretch>
            <a:fillRect/>
          </a:stretch>
        </p:blipFill>
        <p:spPr>
          <a:xfrm>
            <a:off x="10077741" y="4070276"/>
            <a:ext cx="1992564" cy="255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724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B28CF-70EA-5205-B382-DDFB4E01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3757C-2042-A622-4A23-FF144F797E1E}"/>
              </a:ext>
            </a:extLst>
          </p:cNvPr>
          <p:cNvSpPr txBox="1">
            <a:spLocks/>
          </p:cNvSpPr>
          <p:nvPr/>
        </p:nvSpPr>
        <p:spPr>
          <a:xfrm>
            <a:off x="3473670" y="544975"/>
            <a:ext cx="8481848" cy="2462758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C00000"/>
                </a:solidFill>
              </a:rPr>
              <a:t>WE HAVE STARTED WORKING ON FOUR POINTS</a:t>
            </a:r>
          </a:p>
          <a:p>
            <a:pPr marL="742950" indent="-742950" algn="l">
              <a:buAutoNum type="arabicPeriod"/>
            </a:pPr>
            <a:r>
              <a:rPr lang="en-US" sz="3200" b="1" dirty="0"/>
              <a:t>GOAT MILK DAIRY</a:t>
            </a:r>
          </a:p>
          <a:p>
            <a:pPr marL="742950" indent="-742950" algn="l">
              <a:buFontTx/>
              <a:buAutoNum type="arabicPeriod"/>
            </a:pPr>
            <a:r>
              <a:rPr lang="en-US" sz="3200" b="1" dirty="0"/>
              <a:t>GOAT FEED UNIT</a:t>
            </a:r>
          </a:p>
          <a:p>
            <a:pPr marL="742950" indent="-742950" algn="l">
              <a:buAutoNum type="arabicPeriod"/>
            </a:pPr>
            <a:r>
              <a:rPr lang="en-US" sz="3200" b="1" dirty="0"/>
              <a:t>FERTILIZER FROM GOAT DUNG</a:t>
            </a:r>
          </a:p>
          <a:p>
            <a:pPr marL="742950" indent="-742950" algn="l">
              <a:buAutoNum type="arabicPeriod"/>
            </a:pPr>
            <a:r>
              <a:rPr lang="en-US" sz="3200" b="1" dirty="0"/>
              <a:t>PESTICIDES FROM GOAT URINE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D1A899-9693-BF49-A25B-A773CF929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01087" cy="37645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83E0DD-179A-555B-7E63-C0E217AA3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734" y="3429000"/>
            <a:ext cx="4439784" cy="332983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61AACD9-831F-32A4-991E-D2D8A1E8DFBD}"/>
              </a:ext>
            </a:extLst>
          </p:cNvPr>
          <p:cNvSpPr txBox="1">
            <a:spLocks/>
          </p:cNvSpPr>
          <p:nvPr/>
        </p:nvSpPr>
        <p:spPr>
          <a:xfrm>
            <a:off x="0" y="4419835"/>
            <a:ext cx="7275802" cy="212967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C00000"/>
                </a:solidFill>
              </a:rPr>
              <a:t>Everyday DELIVERY of 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ZALAWADI GOAT MILK</a:t>
            </a:r>
          </a:p>
          <a:p>
            <a:r>
              <a:rPr lang="en-US" sz="3200" b="1" dirty="0"/>
              <a:t>Started</a:t>
            </a:r>
          </a:p>
          <a:p>
            <a:r>
              <a:rPr lang="en-US" sz="3200" b="1" dirty="0"/>
              <a:t>FROM MALPUR.</a:t>
            </a:r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1372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4E5CC-881C-4E61-9F6B-842C1638A4D8}"/>
              </a:ext>
            </a:extLst>
          </p:cNvPr>
          <p:cNvSpPr/>
          <p:nvPr/>
        </p:nvSpPr>
        <p:spPr>
          <a:xfrm>
            <a:off x="3218225" y="2866414"/>
            <a:ext cx="5755550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CONTACT: </a:t>
            </a:r>
          </a:p>
          <a:p>
            <a:pPr algn="ctr"/>
            <a:r>
              <a:rPr lang="en-US" sz="2800" dirty="0"/>
              <a:t>MR. KIRAN SHREEKANT PATWARDHAN</a:t>
            </a:r>
          </a:p>
          <a:p>
            <a:pPr algn="ctr"/>
            <a:r>
              <a:rPr lang="en-US" sz="2800" dirty="0"/>
              <a:t>CHIEF EXECUTIVE OFFICER, IGBDPL.</a:t>
            </a:r>
          </a:p>
          <a:p>
            <a:pPr algn="ctr"/>
            <a:r>
              <a:rPr lang="en-US" sz="2800" dirty="0">
                <a:sym typeface="Wingdings 2" panose="05020102010507070707" pitchFamily="18" charset="2"/>
              </a:rPr>
              <a:t> 77090 10407 / 94230 12256</a:t>
            </a:r>
          </a:p>
          <a:p>
            <a:pPr algn="ctr"/>
            <a:r>
              <a:rPr lang="en-US" sz="2800" dirty="0">
                <a:sym typeface="Wingdings" panose="05000000000000000000" pitchFamily="2" charset="2"/>
              </a:rPr>
              <a:t> </a:t>
            </a:r>
            <a:r>
              <a:rPr lang="en-US" sz="2800" dirty="0"/>
              <a:t>igbdpl22@gmail.com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E0AEBB-EE17-5DC0-24AE-47045291A5AE}"/>
              </a:ext>
            </a:extLst>
          </p:cNvPr>
          <p:cNvSpPr/>
          <p:nvPr/>
        </p:nvSpPr>
        <p:spPr>
          <a:xfrm>
            <a:off x="3304723" y="836877"/>
            <a:ext cx="5669052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PROJECT ADDRESS: </a:t>
            </a:r>
          </a:p>
          <a:p>
            <a:pPr algn="ctr"/>
            <a:r>
              <a:rPr lang="en-US" sz="2800" dirty="0"/>
              <a:t>GOAT DAIRY, AMRAVATI DAM ROAD,</a:t>
            </a:r>
          </a:p>
          <a:p>
            <a:pPr algn="ctr"/>
            <a:r>
              <a:rPr lang="en-US" sz="2800" dirty="0"/>
              <a:t>AT VILLAGE MALPUR, SINDKHEDA, </a:t>
            </a:r>
          </a:p>
          <a:p>
            <a:pPr algn="ctr"/>
            <a:r>
              <a:rPr lang="en-US" sz="2800" dirty="0"/>
              <a:t>DIST: DHULE, MAHARASHTRA 425408</a:t>
            </a:r>
          </a:p>
        </p:txBody>
      </p:sp>
    </p:spTree>
    <p:extLst>
      <p:ext uri="{BB962C8B-B14F-4D97-AF65-F5344CB8AC3E}">
        <p14:creationId xmlns:p14="http://schemas.microsoft.com/office/powerpoint/2010/main" val="201718314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3684</TotalTime>
  <Words>1087</Words>
  <Application>Microsoft Office PowerPoint</Application>
  <PresentationFormat>Widescreen</PresentationFormat>
  <Paragraphs>166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Tw Cen MT</vt:lpstr>
      <vt:lpstr>Wingdings</vt:lpstr>
      <vt:lpstr>Wingdings 2</vt:lpstr>
      <vt:lpstr>Droplet</vt:lpstr>
      <vt:lpstr>INDIGENOUS</vt:lpstr>
      <vt:lpstr>Zalawadi Goat  milk enhancement project</vt:lpstr>
      <vt:lpstr>Following are the villages districtwise which are a part of our project. </vt:lpstr>
      <vt:lpstr>PowerPoint Presentation</vt:lpstr>
      <vt:lpstr>methodology</vt:lpstr>
      <vt:lpstr>methodology</vt:lpstr>
      <vt:lpstr>TARGETTED ACHIEVEMENT FOR MILK COLLECTION AFTER MONITORING AND MAINTAINING GOATS</vt:lpstr>
      <vt:lpstr>THE LEGENDS INVOLVED IN THE PROJECT </vt:lpstr>
      <vt:lpstr>THE LEGENDS INVOLVED IN THE PROJECT </vt:lpstr>
      <vt:lpstr>THE PROJECT AT A GLANCE </vt:lpstr>
      <vt:lpstr>THE ZALAWADI GOAT HEALTH CHECKUP AND HEALTH CARD DISTRIBUTION CAMP, 10TH APRIL 2025</vt:lpstr>
      <vt:lpstr>Value additional units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Swati Patwardhan</cp:lastModifiedBy>
  <cp:revision>127</cp:revision>
  <dcterms:created xsi:type="dcterms:W3CDTF">2025-07-28T16:10:08Z</dcterms:created>
  <dcterms:modified xsi:type="dcterms:W3CDTF">2026-05-28T11:56:00Z</dcterms:modified>
</cp:coreProperties>
</file>